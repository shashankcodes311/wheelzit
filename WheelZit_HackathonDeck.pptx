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11F38"/>
          </a:solidFill>
          <a:ln w="19050">
            <a:solidFill>
              <a:srgbClr val="1E6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926080" cy="2926080"/>
          </a:xfrm>
          <a:prstGeom prst="ellipse">
            <a:avLst/>
          </a:prstGeom>
          <a:solidFill>
            <a:srgbClr val="0A1525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WheelZit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Bike Rental — Reimagined for India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  ·  IoT-Secured  ·  Patent Pending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2560320" cy="457200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971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 — April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611880"/>
            <a:ext cx="2286000" cy="329184"/>
          </a:xfrm>
          <a:prstGeom prst="rect">
            <a:avLst/>
          </a:prstGeom>
          <a:solidFill>
            <a:srgbClr val="1C0A00"/>
          </a:solidFill>
          <a:ln w="25400">
            <a:solidFill>
              <a:srgbClr val="FF9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611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PENDING — April 2026</a:t>
            </a:r>
            <a:endParaRPr lang="en-US" sz="9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1097280" cy="10972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52360" y="259689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— Live App Demo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65760" y="47091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founder@wheelzit.in  ·  wheelzit.in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bikes sit idle. Millions of people can't rent one.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4133088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DF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53312"/>
            <a:ext cx="4133088" cy="45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536192"/>
            <a:ext cx="594360" cy="5943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5361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43584" y="1536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Hourly Option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43584" y="1920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charge ₹800+ minimum — a full day. Nobody offers a 2-hour rental in NCR.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53312"/>
            <a:ext cx="4133088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DF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53312"/>
            <a:ext cx="4133088" cy="45720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536192"/>
            <a:ext cx="594360" cy="5943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5361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59552" y="1536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in NCR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59552" y="1920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GPS-tracked, KYC-verified, app-based platform exists in Ghaziabad / NCR.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044952"/>
            <a:ext cx="4133088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DF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44952"/>
            <a:ext cx="4133088" cy="45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" y="3227832"/>
            <a:ext cx="594360" cy="5943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2278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43584" y="32278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18hrs Idle Daily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43584" y="3611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Indian bike parked 18+ hrs/day. Owners earn ₹0 from it.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044952"/>
            <a:ext cx="4133088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DF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44952"/>
            <a:ext cx="4133088" cy="45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3227832"/>
            <a:ext cx="594360" cy="5943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2278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59552" y="32278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59552" y="3611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rentals have no GPS, no remote kill switch, no insurance. Owners risk everything.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WheelZit — Rent any bike, by the hour, near you.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7512" y="1353312"/>
            <a:ext cx="1005840" cy="1005840"/>
          </a:xfrm>
          <a:prstGeom prst="ellipse">
            <a:avLst/>
          </a:prstGeom>
          <a:solidFill>
            <a:srgbClr val="1A2A40"/>
          </a:solidFill>
          <a:ln w="25400">
            <a:solidFill>
              <a:srgbClr val="1E6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533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46888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Lists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281635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onboarding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20240" y="17007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86584" y="1353312"/>
            <a:ext cx="1005840" cy="1005840"/>
          </a:xfrm>
          <a:prstGeom prst="ellipse">
            <a:avLst/>
          </a:prstGeom>
          <a:solidFill>
            <a:srgbClr val="1A2A40"/>
          </a:solidFill>
          <a:ln w="25400">
            <a:solidFill>
              <a:srgbClr val="1E6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86584" y="13533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39112" y="246888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Finds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39112" y="281635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browse map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39312" y="17007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05656" y="1353312"/>
            <a:ext cx="1005840" cy="1005840"/>
          </a:xfrm>
          <a:prstGeom prst="ellipse">
            <a:avLst/>
          </a:prstGeom>
          <a:solidFill>
            <a:srgbClr val="1A2A40"/>
          </a:solidFill>
          <a:ln w="25400">
            <a:solidFill>
              <a:srgbClr val="1E6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05656" y="13533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58184" y="246888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Book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58184" y="281635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+ DL + UPI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58384" y="17007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824728" y="1353312"/>
            <a:ext cx="1005840" cy="1005840"/>
          </a:xfrm>
          <a:prstGeom prst="ellipse">
            <a:avLst/>
          </a:prstGeom>
          <a:solidFill>
            <a:srgbClr val="1A2A40"/>
          </a:solidFill>
          <a:ln w="25400">
            <a:solidFill>
              <a:srgbClr val="1E6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4728" y="13533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🏍️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77256" y="246888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77256" y="281635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tracked + insured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77456" y="17007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543800" y="1353312"/>
            <a:ext cx="1005840" cy="1005840"/>
          </a:xfrm>
          <a:prstGeom prst="ellipse">
            <a:avLst/>
          </a:prstGeom>
          <a:solidFill>
            <a:srgbClr val="1A2A40"/>
          </a:solidFill>
          <a:ln w="25400">
            <a:solidFill>
              <a:srgbClr val="1E6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3533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96328" y="246888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Earn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96328" y="281635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paid, we take 25%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3401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us apart: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" y="3794760"/>
            <a:ext cx="1993392" cy="896112"/>
          </a:xfrm>
          <a:prstGeom prst="rect">
            <a:avLst/>
          </a:prstGeom>
          <a:solidFill>
            <a:srgbClr val="1A2A4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794760"/>
            <a:ext cx="1993392" cy="45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877056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Hourly from ₹50/hr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23744" y="3794760"/>
            <a:ext cx="1993392" cy="896112"/>
          </a:xfrm>
          <a:prstGeom prst="rect">
            <a:avLst/>
          </a:prstGeom>
          <a:solidFill>
            <a:srgbClr val="1A2A4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23744" y="3794760"/>
            <a:ext cx="1993392" cy="45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15184" y="3877056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Aadhaar + DL verified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0016" y="3794760"/>
            <a:ext cx="1993392" cy="896112"/>
          </a:xfrm>
          <a:prstGeom prst="rect">
            <a:avLst/>
          </a:prstGeom>
          <a:solidFill>
            <a:srgbClr val="1A2A4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0016" y="3794760"/>
            <a:ext cx="1993392" cy="45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3877056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GPS every ride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76288" y="3794760"/>
            <a:ext cx="1993392" cy="896112"/>
          </a:xfrm>
          <a:prstGeom prst="rect">
            <a:avLst/>
          </a:prstGeom>
          <a:solidFill>
            <a:srgbClr val="1A2A4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76288" y="3794760"/>
            <a:ext cx="1993392" cy="45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67728" y="3877056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Insured every booking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164592"/>
            <a:ext cx="2286000" cy="347472"/>
          </a:xfrm>
          <a:prstGeom prst="rect">
            <a:avLst/>
          </a:prstGeom>
          <a:solidFill>
            <a:srgbClr val="1C0A00"/>
          </a:solidFill>
          <a:ln w="25400">
            <a:solidFill>
              <a:srgbClr val="FF9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PENDING — April 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164592"/>
            <a:ext cx="2286000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INNOVATION — WHEELGUARD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Engine Cutoff — Our Competitive Moat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₹1,200 device. Press one button. Engine stops anywhere in India.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4114800" cy="3383280"/>
          </a:xfrm>
          <a:prstGeom prst="rect">
            <a:avLst/>
          </a:prstGeom>
          <a:solidFill>
            <a:srgbClr val="0D1B2F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600200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(Total ₹1,200)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ESP32 Microcontroller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87168" y="205740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08960" y="205740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+ BT — the brain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SIM800L GSM Module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87168" y="256032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08960" y="25603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anywhere in India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0632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NEO-6M GPS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87168" y="306324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08960" y="306324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5V Relay Module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87168" y="356616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08960" y="356616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ignition circuit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0690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Battery + Casing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87168" y="406908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08960" y="406908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under seat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81728" y="1481328"/>
            <a:ext cx="4114800" cy="3383280"/>
          </a:xfrm>
          <a:prstGeom prst="rect">
            <a:avLst/>
          </a:prstGeom>
          <a:solidFill>
            <a:srgbClr val="0D1B2F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28032" y="1600200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WheelGuard Works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28032" y="2084832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75504" y="2066544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hidden under seat, wired to ignition relay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2560320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75504" y="2542032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sends location every 30s to WheelZit cloud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28032" y="3035808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035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75504" y="301752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alert if bike crosses city limits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28032" y="3511296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5112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75504" y="3493008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taps Kill Engine in app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28032" y="3986784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986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75504" y="3968496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receives signal via GSM — relay opens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28032" y="4462272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75504" y="4443984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stops safely — police get GPS coords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28032" y="4626864"/>
            <a:ext cx="3785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rental company in India has built this. First mover wins.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₹12,000 Crore market. Nobody owns it. We will.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365760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3291840" cy="2834640"/>
          </a:xfrm>
          <a:prstGeom prst="ellipse">
            <a:avLst/>
          </a:prstGeom>
          <a:solidFill>
            <a:srgbClr val="BFDBFE"/>
          </a:solidFill>
          <a:ln w="19050">
            <a:solidFill>
              <a:srgbClr val="1E6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084832"/>
            <a:ext cx="2011680" cy="1828800"/>
          </a:xfrm>
          <a:prstGeom prst="ellipse">
            <a:avLst/>
          </a:prstGeom>
          <a:solidFill>
            <a:srgbClr val="1E6FFF"/>
          </a:solidFill>
          <a:ln w="19050">
            <a:solidFill>
              <a:srgbClr val="0D13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₹12,000 Cr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86537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₹1,500 Cr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71600" y="235915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₹15Cr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(Yr 3)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07008"/>
          <a:ext cx="4133088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  <a:gridCol w="1005840"/>
                <a:gridCol w="9326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NCR?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Self-Ride?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Kill?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Brothers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WheelZit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663440" y="4114800"/>
            <a:ext cx="4133088" cy="384048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63500" tIns="101600" rIns="101600" bIns="635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WheelZit is the ONLY player with all 4 advantages simultaneously.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4626864"/>
            <a:ext cx="1261872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4626864"/>
            <a:ext cx="1261872" cy="36576"/>
          </a:xfrm>
          <a:prstGeom prst="rect">
            <a:avLst/>
          </a:prstGeom>
          <a:solidFill>
            <a:srgbClr val="1E6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466344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200M+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63440" y="501091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bikes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53328" y="4626864"/>
            <a:ext cx="1261872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53328" y="4626864"/>
            <a:ext cx="1261872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466344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053328" y="501091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organised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443216" y="4626864"/>
            <a:ext cx="1261872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43216" y="4626864"/>
            <a:ext cx="1261872" cy="36576"/>
          </a:xfrm>
          <a:prstGeom prst="rect">
            <a:avLst/>
          </a:prstGeom>
          <a:solidFill>
            <a:srgbClr val="FF9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43216" y="466344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18-20%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43216" y="501091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CAGR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 Marketplace — we earn when rides happen.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133088" cy="1572768"/>
          </a:xfrm>
          <a:prstGeom prst="rect">
            <a:avLst/>
          </a:prstGeom>
          <a:solidFill>
            <a:srgbClr val="0D1B2F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61872"/>
            <a:ext cx="4133088" cy="45720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444752"/>
            <a:ext cx="713232" cy="71323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4475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53312" y="14264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53312" y="18653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53312" y="221284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every booking. Avg ₹250 ride = ₹62.50 earned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4133088" cy="1572768"/>
          </a:xfrm>
          <a:prstGeom prst="rect">
            <a:avLst/>
          </a:prstGeom>
          <a:solidFill>
            <a:srgbClr val="0D1B2F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61872"/>
            <a:ext cx="4133088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444752"/>
            <a:ext cx="713232" cy="71323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44475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669280" y="14264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669280" y="18653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221284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₹20–50/ride rider coverage via Digit/Acko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3017520"/>
            <a:ext cx="4133088" cy="1572768"/>
          </a:xfrm>
          <a:prstGeom prst="rect">
            <a:avLst/>
          </a:prstGeom>
          <a:solidFill>
            <a:srgbClr val="0D1B2F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017520"/>
            <a:ext cx="4133088" cy="45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200400"/>
            <a:ext cx="713232" cy="71323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2004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53312" y="3182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353312" y="362102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53312" y="396849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pay for featured placement in search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4133088" cy="1572768"/>
          </a:xfrm>
          <a:prstGeom prst="rect">
            <a:avLst/>
          </a:prstGeom>
          <a:solidFill>
            <a:srgbClr val="0D1B2F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017520"/>
            <a:ext cx="4133088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3200400"/>
            <a:ext cx="713232" cy="71323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2004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669280" y="3182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669280" y="362102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69280" y="396849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plans for office fleets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7472" y="4663440"/>
            <a:ext cx="8449056" cy="301752"/>
          </a:xfrm>
          <a:prstGeom prst="rect">
            <a:avLst/>
          </a:prstGeom>
          <a:solidFill>
            <a:srgbClr val="1A1200"/>
          </a:solidFill>
          <a:ln/>
        </p:spPr>
        <p:txBody>
          <a:bodyPr wrap="square" lIns="50800" tIns="152400" rIns="152400" bIns="508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130 bikes — achievable by Month 10.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done. What's next.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402336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8F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4023360" cy="4389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430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Startup India DPIIT registered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Business plan + financial model complete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Working app prototype built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596896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WheelGuard IoT prototype assembled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07792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Provisional patent filed April 2026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218688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10 bike owners identified in NCR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29584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Faculty appreciation + mentor support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73168" y="1143000"/>
            <a:ext cx="402336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DCE8F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1143000"/>
            <a:ext cx="4023360" cy="438912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1430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 Months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19472" y="1682496"/>
            <a:ext cx="841248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68249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33872" y="168249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MVP + IoT final build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9472" y="2066544"/>
            <a:ext cx="841248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06654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33872" y="20665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20 partner bikes NCR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9472" y="2450592"/>
            <a:ext cx="841248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4505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33872" y="245059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Beta: 50 riders, real bookings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19472" y="2834640"/>
            <a:ext cx="841248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83464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33872" y="283464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to 100 active bikes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19472" y="3218688"/>
            <a:ext cx="841248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21868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33872" y="321868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fundraise complete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19472" y="3602736"/>
            <a:ext cx="841248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0273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33872" y="360273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Noida + Gurgaon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7472" y="4407408"/>
            <a:ext cx="265176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407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₹29L Revenue · 100 bikes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182112" y="4407408"/>
            <a:ext cx="265176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82112" y="4407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₹2.2Cr Revenue · 500 bikes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16752" y="4407408"/>
            <a:ext cx="265176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6752" y="4407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₹11.9Cr Revenue · 2,000 bikes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11F38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You.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WheelZit is raising ₹50 Lakhs seed to launch in NCR, prove the model, and scale across India.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2560320" cy="1481328"/>
          </a:xfrm>
          <a:prstGeom prst="rect">
            <a:avLst/>
          </a:prstGeom>
          <a:solidFill>
            <a:srgbClr val="0D1B2F"/>
          </a:solidFill>
          <a:ln w="19050">
            <a:solidFill>
              <a:srgbClr val="FF95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09067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 Lakhs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38221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equity  ·  ₹3–5Cr valuation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114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Month 10  ·  Yr3: ₹11.9Cr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3035808"/>
            <a:ext cx="3566160" cy="347472"/>
          </a:xfrm>
          <a:prstGeom prst="rect">
            <a:avLst/>
          </a:prstGeom>
          <a:solidFill>
            <a:srgbClr val="0D1B2F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3035808"/>
            <a:ext cx="1426464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30358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 —  App Dev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54680" y="3474720"/>
            <a:ext cx="3566160" cy="347472"/>
          </a:xfrm>
          <a:prstGeom prst="rect">
            <a:avLst/>
          </a:prstGeom>
          <a:solidFill>
            <a:srgbClr val="0D1B2F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3474720"/>
            <a:ext cx="89154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4747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—  Marketing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154680" y="3913632"/>
            <a:ext cx="3566160" cy="347472"/>
          </a:xfrm>
          <a:prstGeom prst="rect">
            <a:avLst/>
          </a:prstGeom>
          <a:solidFill>
            <a:srgbClr val="0D1B2F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3913632"/>
            <a:ext cx="713232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913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—  Team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154680" y="4352544"/>
            <a:ext cx="3566160" cy="347472"/>
          </a:xfrm>
          <a:prstGeom prst="rect">
            <a:avLst/>
          </a:prstGeom>
          <a:solidFill>
            <a:srgbClr val="0D1B2F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4352544"/>
            <a:ext cx="534924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43525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 —  Legal &amp; Ops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154680" y="4590288"/>
            <a:ext cx="2011680" cy="320040"/>
          </a:xfrm>
          <a:prstGeom prst="rect">
            <a:avLst/>
          </a:prstGeom>
          <a:solidFill>
            <a:srgbClr val="1C0A00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4590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PENDING — WHEELGUARD IoT</a:t>
            </a:r>
            <a:endParaRPr lang="en-US" sz="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999232"/>
            <a:ext cx="1371600" cy="1371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269480" y="4407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— Live App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269480" y="46085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wheelzit.in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4754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founder@wheelzit.in  ·  wheelzit.in  ·  NCR, India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2026-04-24T07:18:03Z</dcterms:created>
  <dcterms:modified xsi:type="dcterms:W3CDTF">2026-04-24T07:18:03Z</dcterms:modified>
</cp:coreProperties>
</file>